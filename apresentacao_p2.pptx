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Universidade do Minho · Sistemas Inteligentes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Projeto 2 — SNS24 Chatbot
com LLM e 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CAF9"/>
                </a:solidFill>
              </a:rPr>
              <a:t>Sistema Inteligente de Triagem Clínica em Linguagem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Alexandr Tchikoulaev  ·  André Pinto  ·  João Alves  ·  Rui Silva
Grupo 4 · Sistemas Inteligentes de Apoio à Decisão · UMinho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Enquadramento — do P1 para o P2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Evolução da Base de Conhecimento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Arquitetura do Sistema de Chatbot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Módulo RAG (Retrieval-Augmented Generation)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Deteção de Sintomas em Linguagem Natural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Motor de Inferência MYCIN em Python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Gestão da Conversa e Seleção de Perguntas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Integração com LLM (Llama 3.2:3b)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Interface Web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Funcionalidades Avançadas e Conclusões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Enquadramento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 Projeto 1 para o Projeto 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Projeto 1 — O que foi construído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Motor MYCIN em Prolog com 36 regras clínicas e 28 sintomas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Pipeline de aprendizagem automática (gerar_dataset → treinar → base_conhecimento_b.pl)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Interface web (server.pl + interface.html) com triagem estruturada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Projeto 2 — O que acrescenta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Chatbot conversacional: o utilizador descreve os sintomas em linguagem natural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LLM local (Llama 3.2:3b via Ollama) para geração de respostas empáticas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RAG: toda a base de conhecimento Prolog indexada automaticamente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Motor de diálogo dinâmico — seleciona a pergunta mais informativa em cada turno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E88E5"/>
                </a:solidFill>
              </a:rPr>
              <a:t>A base de conhecimento foi também expandida com novos sintomas e regras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</a:rPr>
              <a:t>O P1 é reutilizado integralmente: base Prolog, motor MYCIN, pipeline ML e triagens.csv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Evolução da Base de Conhecimento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Novos Sintomas Adicionados (5)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E88E5"/>
                </a:solidFill>
              </a:rPr>
              <a:t>Motivação: 4 síndromes de alto risco sem representação na versão P1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rigidez_nuca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Rigidez da nuca → sinal clássico de meningite bacteriana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rash_petequial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Manchas que não desaparecem à pressão → meningococcemia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reacao_alergica_grave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Inchaço de face/língua/garganta → anafilaxia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dor_cabeca_subita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"Pior dor de cabeça da vida" → hemorragia subaracnoideia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visao_alterada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Alteração visual súbita → AVC (sinal BE-FAST)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Base de Conhecimento — Novos Níveis de Triagem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286000" cy="8046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990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EMERGÊNCIA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234440"/>
            <a:ext cx="3291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399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Ligue 112 imediatamente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234440"/>
            <a:ext cx="576072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34416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24242"/>
                </a:solidFill>
              </a:rPr>
              <a:t>r_em8–r_em11: pneumonia grave, meningite, meningococcemia, anafilaxia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30552"/>
            <a:ext cx="2286000" cy="80467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29514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MUITO URGENTE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130552"/>
            <a:ext cx="3291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22951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Urgência hospitalar agora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130552"/>
            <a:ext cx="576072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22402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24242"/>
                </a:solidFill>
              </a:rPr>
              <a:t>r_mu10–r_mu13: meningite/encefalite, anafilaxia, HSA, AVC-visão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26664"/>
            <a:ext cx="2286000" cy="804672"/>
          </a:xfrm>
          <a:prstGeom prst="rect">
            <a:avLst/>
          </a:prstGeom>
          <a:solidFill>
            <a:srgbClr val="E6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19125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URGENTE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3026664"/>
            <a:ext cx="3291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31912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Centro de saúde em 24h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026664"/>
            <a:ext cx="576072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13639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24242"/>
                </a:solidFill>
              </a:rPr>
              <a:t>r_ur10–r_ur14: vómitos isolados, dor garganta+febre, bebé+vómitos, diarreia, visão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22776"/>
            <a:ext cx="2286000" cy="8046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08736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POUCO URGENTE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922776"/>
            <a:ext cx="3291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408736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Autocuidados, vigiar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22776"/>
            <a:ext cx="576072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4032504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24242"/>
                </a:solidFill>
              </a:rPr>
              <a:t>r_pu5–r_pu7: anti-sobreavaliação de quadros virais benignos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18888"/>
            <a:ext cx="2286000" cy="8046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98347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SEM ALARME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4818888"/>
            <a:ext cx="329184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0" y="498347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Vigiar em casa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818888"/>
            <a:ext cx="5760720" cy="8046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49286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24242"/>
                </a:solidFill>
              </a:rPr>
              <a:t>Lógica de negação: sem sintomas de alarme confirmados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Decisão Arquitetural — Remoção das Contra-Evidências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Versão P1: 13 regras com CF negativo (r_c_em1 a r_c_ur3)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Ex.: presença de dor_leve → CF emergência −0.70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E88E5"/>
                </a:solidFill>
              </a:rPr>
              <a:t>Problema crítico de segurança clínica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Um doente com paragem respiratória (CF 0.95) + mal_estar (CF −0.45) → emergência atenuada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Comportamento clinicamente inaceitável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Solução: substituição por premissas negadas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1A237E"/>
                </a:solidFill>
              </a:rPr>
              <a:t>r_pu5: constipacao + dor_garganta + nao(febre_alta) → pouco_urgente (CF 0.72)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1A237E"/>
                </a:solidFill>
              </a:rPr>
              <a:t>r_pu6: febre_baixa + mal_estar + nao(dor_abd) → pouco_urgente (CF 0.68)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Raciocínio positivo e controlado: só dispara para nível benigno quando ausência de alarme confirmada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</a:rPr>
              <a:t>28 → 36 regras  ·  13 contra-evidências removidas  ·  2 regras modificadas (r_ur5, r_ur6)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Arquitetura do Sistema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Arquitetura do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2468880" cy="100584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
chatbot.html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286000"/>
            <a:ext cx="2468880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 Python
FastAPI :8081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2468880" cy="100584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14630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LLM Ollama
llama3.2:3b :11434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657600"/>
            <a:ext cx="246888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37490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Motor MYCIN
Prolog :8080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2286000"/>
            <a:ext cx="2468880" cy="100584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237744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Base Conhecimento
.pl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697480"/>
            <a:ext cx="365760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920240"/>
            <a:ext cx="365760" cy="10972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4160520"/>
            <a:ext cx="365760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0" y="2697480"/>
            <a:ext cx="640080" cy="109728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51460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</a:rPr>
              <a:t>HTTP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6916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Linguagem
Natural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3931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Inferência
MYCIN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688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Lê regras
Prolog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</a:rPr>
              <a:t>LLM → apenas geração de linguagem empática  |  Motor MYCIN → inferência clínica determinística  |  Python MYCIN → alternativa se Prolog indisponível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Módulo RAG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RAG — 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O que é o RAG neste sistema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No arranque: parser lê base_conhecimento_a.pl e _b.pl via regex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Constrói automaticamente 60–80 documentos em linguagem natural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3 grupos de documentos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Protocolo geral SNS24 (5 níveis e respetivas ações)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Uma entrada por regra de produção (premissas traduzidas para PT)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Grupos de sintomas por nível de gravidade com explicações clínicas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Motor de recuperação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TF-IDF com n-gramas de caráter (char_wb, bigramas–tetragramas)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Robusto a erros ortográficos e abreviaturas em português clínico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Similaridade de cosseno → top-5 documentos por mensagem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Contexto injetado nos prompts do LLM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Deteção de Sintomas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Deteção de Sintomas — Keywords vs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0352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75C"/>
                </a:solidFill>
              </a:rPr>
              <a:t>Sistema de Keywords (usado)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28 sintomas com múltiplas expressões PT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"dor no peito", "aperto no peito", "dor torácica"...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Deteção de negações por janela de 35 carateres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"não", "sem", "nunca", "ausência de"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Exclusões mútuas: febre_alta ↔ febre_baixa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Determinístico — latência nula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Robusto a variações ortográficas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48640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75C"/>
                </a:solidFill>
              </a:rPr>
              <a:t>LLM para extração (desativado)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Função extrair_sintomas_llm existe mas não é chamada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Llama 3.2:3b gerava sintomas não presentes no texto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Confundia negações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Devolvia JSON malformado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Alucinações inaceitáveis em domínio clínico</a:t>
            </a:r>
          </a:p>
          <a:p>
            <a:pPr algn="l">
              <a:spcBef>
                <a:spcPts val="400"/>
              </a:spcBef>
            </a:pPr>
            <a:r>
              <a:rPr sz="1500" b="0" i="0">
                <a:solidFill>
                  <a:srgbClr val="212121"/>
                </a:solidFill>
              </a:rPr>
              <a:t>• Decisão: LLM apenas para linguagem, nunca para inferência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Motor MYCIN em Python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Motor MYCIN Python — Alternativa ao Servidor Prolog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Porquê implementar o MYCIN em Python?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O chatbot funciona mesmo quando o servidor Prolog (P1) não está disponível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Fórmula de combinação de CFs (idêntica ao MYCIN original)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1A237E"/>
                </a:solidFill>
              </a:rPr>
              <a:t>CF_combinado = CF₁ + CF₂ × (1 − CF₁)  [evidências positivas]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Garante que a certeza cresce progressivamente sem ultrapassar 1.0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Salvaguarda de segurança clínica (sempre ativa)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Python e Prolog correm em paralelo quando ambos disponíveis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Se Python concluir nível MAIS GRAVE → resultado Python prevalece</a:t>
            </a:r>
          </a:p>
          <a:p>
            <a:pPr algn="l" lvl="1">
              <a:spcBef>
                <a:spcPts val="200"/>
              </a:spcBef>
            </a:pPr>
            <a:r>
              <a:rPr sz="1500" b="0" i="0">
                <a:solidFill>
                  <a:srgbClr val="212121"/>
                </a:solidFill>
              </a:rPr>
              <a:t>    Corrige: Prolog selecionava a regra com CF mais alto, não o nível mais grave</a:t>
            </a:r>
          </a:p>
          <a:p>
            <a:pPr algn="l" lvl="1">
              <a:spcBef>
                <a:spcPts val="200"/>
              </a:spcBef>
            </a:pPr>
            <a:r>
              <a:rPr sz="1500" b="0" i="0">
                <a:solidFill>
                  <a:srgbClr val="212121"/>
                </a:solidFill>
              </a:rPr>
              <a:t>    Ex.: urgente (CF 0.85) não deve suprimir muito_urgente (CF 0.60)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Gestão da Conversa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Algoritmo de Seleção da Próxima Pergunta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E88E5"/>
                </a:solidFill>
              </a:rPr>
              <a:t>Não segue uma ordem fixa — escolha dinâmica e informativa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Score por sintoma desconhecido (para cada regra ativa)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1A237E"/>
                </a:solidFill>
              </a:rPr>
              <a:t>score = CF_regra × 2^(n_confirmadas)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Peso exponencial: favorece completar regras com evidências parciais</a:t>
            </a:r>
          </a:p>
          <a:p>
            <a:pPr algn="l" lvl="1">
              <a:spcBef>
                <a:spcPts val="200"/>
              </a:spcBef>
            </a:pPr>
            <a:r>
              <a:rPr sz="1500" b="0" i="0">
                <a:solidFill>
                  <a:srgbClr val="212121"/>
                </a:solidFill>
              </a:rPr>
              <a:t>    Regras sem nenhuma confirmação têm peso reduzido (× 0.2)</a:t>
            </a:r>
          </a:p>
          <a:p>
            <a:pPr algn="l" lvl="1">
              <a:spcBef>
                <a:spcPts val="200"/>
              </a:spcBef>
            </a:pPr>
            <a:r>
              <a:rPr sz="1500" b="0" i="0">
                <a:solidFill>
                  <a:srgbClr val="212121"/>
                </a:solidFill>
              </a:rPr>
              <a:t>    Evita interromper uma regra em curso por uma regra genérica com CF alto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Exemplo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Utilizador confirmou dor_peito → dor_irradia sobe drasticamente em score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1A237E"/>
                </a:solidFill>
              </a:rPr>
              <a:t>r_mu1: dor_peito + dor_irradia → muito_urgente (CF 0.90)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score(dor_irradia) = 0.90 × 2¹ = 1.80  vs  score(febre_alta) = 0.50 × 2⁰ × 0.2 = 0.10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Critérios de Disparo da Triagem e Respostas Ambíguas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Quando a triagem é desencadeada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Sintoma de emergência individual confirmado → imediato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Regra de emergência completamente satisfeita → early-exit absoluto (sem mais perguntas)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≥ 6 trocas e ≥ 4 sintomas avaliados (limite superior)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≥ 3 trocas, ≥ 5 sintomas e nenhuma regra de emergência ainda aberta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Tratamento de respostas ambíguas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Intensificadores: 'definitivamente', 'absolutamente', 'sem dúvida' → True (sem LLM)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Qualificadas: "tenho febre, mas não acima de 39" → None (incerto)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Sintoma incerto: não é registado mas é marcado como perguntado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Intercepção de pedidos de explicação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"porquê precisas de saber?" → mostra explicacao(sintoma) e repete a pergunta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Estado de sessão inalterado: última pergunta mantém-se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Integração com LLM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Llama 3.2:3b — Papel Exclusivamente Linguístico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Configuração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Modelo: llama3.2:3b via Ollama (execução local, porta 11434)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Temperatura: 0.1 → mínima variabilidade, redução de alucinações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Tokens máximos: 25 (acknowledgments) / 35 (transições)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3 tipos de prompts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Mid-conversation: frase empática de transição antes de cada pergunta clínica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Introdução ao resultado: 1 frase antes do diagnóstico (sem revelar nível)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Português europeu formal: 'si' em vez de 'você' (corrigido por regex)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Pós-processamento obrigatório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Remove '112', 'urgência', 'emergência', 'grave' do texto intercalar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Deteta antecipação do próximo sintoma → substitui por texto neutro fixo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Trunca a 2 frases máximo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E88E5"/>
                </a:solidFill>
              </a:rPr>
              <a:t>LLM nunca influencia a lógica de triagem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Interface Web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chatbot.html — Single Page Application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Tecnologias: HTML + CSS + JavaScript puro (sem framework externo)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Painel de chat (esquerda)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Conversa em linguagem natural com o utilizador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Mensagens do sistema com frases empáticas geradas pelo LLM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Resultado final com nível codificado por cor e justificação clínica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Painel de diagnóstico (direita)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Lista em tempo real dos sintomas detetados (✓ presente / ✗ ausente)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Status de ligação ao modelo Ollama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Endpoints utilizados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1A237E"/>
                </a:solidFill>
              </a:rPr>
              <a:t>POST /api/chat/start  → UUID de sessão + mensagem de boas-vindas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1A237E"/>
                </a:solidFill>
              </a:rPr>
              <a:t>POST /api/chat/message → processa mensagem + devolve resposta + estado</a:t>
            </a:r>
          </a:p>
          <a:p>
            <a:pPr algn="l">
              <a:spcBef>
                <a:spcPts val="200"/>
              </a:spcBef>
            </a:pPr>
            <a:r>
              <a:rPr sz="1300" b="0" i="1">
                <a:solidFill>
                  <a:srgbClr val="1A237E"/>
                </a:solidFill>
              </a:rPr>
              <a:t>GET  /api/chat/status  → confirma llama3.2:3b carregado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Funcionalidades Avançadas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Funcionalidades Avançadas e Persistência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Persistência automática de triagens (salvar_triagem_csv)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No P1: persistência dependia do estado Prolog → inoperante em modo fallback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No P2: Python persiste sempre, independentemente do motor usado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Converte session['sintomas'] → linha binária em triagens.csv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Fecha o ciclo de aprendizagem contínua do P1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Segurança clínica dupla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Prolog + Python correm em paralelo → resultado mais grave prevalece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Early-exit absoluto para emergências confirmadas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Explicações clínicas em contexto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"porquê?" → mostra explicacao/2 da base Prolog e repete a pergunta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Sem modificar o estado da sessão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</a:rPr>
              <a:t>Integração total com o P1: base Prolog reutilizada · triagens.csv partilhado · pipeline ML inalterado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Conclusões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Síntese e Autoavaliação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58064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2000" b="1" i="0">
                <a:solidFill>
                  <a:srgbClr val="1A375C"/>
                </a:solidFill>
              </a:rPr>
              <a:t>O que foi entregue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Chatbot conversacional SNS24 com LLM + RAG + MYCIN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Base de conhecimento expandida: 28 → 36 regras, 5 novos sintomas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Motor MYCIN em Python (alternativa ao Prolog)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Salvaguarda de segurança clínica (nivel mais grave prevalece)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Persistência de triagens independente do motor utilizado</a:t>
            </a:r>
          </a:p>
          <a:p>
            <a:pPr algn="l">
              <a:spcBef>
                <a:spcPts val="0"/>
              </a:spcBef>
            </a:pPr>
            <a:r>
              <a:rPr sz="600" b="0" i="0">
                <a:solidFill>
                  <a:srgbClr val="212121"/>
                </a:solidFill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2000" b="1" i="0">
                <a:solidFill>
                  <a:srgbClr val="1A375C"/>
                </a:solidFill>
              </a:rPr>
              <a:t>Principal lição aprendida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LLMs de 3B parâmetros são inadequados para extração estruturada em domínios clínicos</a:t>
            </a:r>
          </a:p>
          <a:p>
            <a:pPr algn="l">
              <a:spcBef>
                <a:spcPts val="300"/>
              </a:spcBef>
            </a:pPr>
            <a:r>
              <a:rPr sz="1600" b="0" i="0">
                <a:solidFill>
                  <a:srgbClr val="212121"/>
                </a:solidFill>
              </a:rPr>
              <a:t>• Solução: LLM para linguagem natural, keywords para extração, MYCIN para inferência</a:t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1E88E5"/>
                </a:solidFill>
              </a:rPr>
              <a:t>Autoavaliação: 18 valores</a:t>
            </a:r>
          </a:p>
          <a:p>
            <a:pPr algn="l" lvl="1">
              <a:spcBef>
                <a:spcPts val="200"/>
              </a:spcBef>
            </a:pPr>
            <a:r>
              <a:rPr sz="1500" b="0" i="0">
                <a:solidFill>
                  <a:srgbClr val="212121"/>
                </a:solidFill>
              </a:rPr>
              <a:t>    Alexandr Tchikoulaev  ·  André Pinto  ·  João Alves  ·  Rui Silva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</a:rPr>
              <a:t>Universidade do Minho · Sistemas Inteligentes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Obrigado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0CAF9"/>
                </a:solidFill>
              </a:rPr>
              <a:t>Questões?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BDEFB"/>
                </a:solidFill>
              </a:rPr>
              <a:t>Alexandr Tchikoulaev  ·  André Pinto  ·  João Alves  ·  Rui Silva
Grupo 4 · Sistemas Inteligentes de Apoio à Decisão · UMinho · Maio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CAF9"/>
                </a:solidFill>
              </a:rPr>
              <a:t>Maio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